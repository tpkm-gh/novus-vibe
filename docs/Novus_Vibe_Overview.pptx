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6A2E"/>
                </a:solidFill>
                <a:latin typeface="Calibri"/>
              </a:defRPr>
            </a:pPr>
            <a:r>
              <a:rPr dirty="0"/>
              <a:t>NOVUS</a:t>
            </a:r>
            <a:r>
              <a:rPr lang="en-CA" dirty="0"/>
              <a:t> </a:t>
            </a:r>
            <a:r>
              <a:rPr dirty="0"/>
              <a:t>MINDS AI — FDE PROTOTYPE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Fund Screen PDF Copilot — Use Case &amp;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4937760"/>
          </a:xfrm>
          <a:prstGeom prst="roundRect">
            <a:avLst>
              <a:gd name="adj" fmla="val 4500"/>
            </a:avLst>
          </a:prstGeom>
          <a:solidFill>
            <a:srgbClr val="F4F1EC"/>
          </a:solidFill>
          <a:ln w="9525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Calibri"/>
              </a:defRPr>
            </a:pPr>
            <a:r>
              <a:t>The Use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93392"/>
            <a:ext cx="457200" cy="27940"/>
          </a:xfrm>
          <a:prstGeom prst="rect">
            <a:avLst/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663440" cy="2989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Problem: </a:t>
            </a:r>
            <a:r>
              <a:rPr lang="en-CA" sz="1300" dirty="0">
                <a:solidFill>
                  <a:srgbClr val="3D475C"/>
                </a:solidFill>
                <a:latin typeface="Calibri"/>
              </a:rPr>
              <a:t>A</a:t>
            </a:r>
            <a:r>
              <a:rPr sz="1300" b="0" dirty="0" err="1">
                <a:solidFill>
                  <a:srgbClr val="3D475C"/>
                </a:solidFill>
                <a:latin typeface="Calibri"/>
              </a:rPr>
              <a:t>dvisors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 have a fund-screener webpage that needs to become a durable, retrievable, auditable </a:t>
            </a:r>
            <a:r>
              <a:rPr lang="en-CA" sz="1300" b="0" dirty="0">
                <a:solidFill>
                  <a:srgbClr val="3D475C"/>
                </a:solidFill>
                <a:latin typeface="Calibri"/>
              </a:rPr>
              <a:t>list of 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PDF</a:t>
            </a:r>
            <a:r>
              <a:rPr lang="en-CA" sz="1300" b="0" dirty="0">
                <a:solidFill>
                  <a:srgbClr val="3D475C"/>
                </a:solidFill>
                <a:latin typeface="Calibri"/>
              </a:rPr>
              <a:t>s handed out to customers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 — today that's a manual print-and-file step.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Wedge: </a:t>
            </a:r>
            <a:r>
              <a:rPr lang="en-CA" sz="1300" b="0" dirty="0">
                <a:solidFill>
                  <a:srgbClr val="3D475C"/>
                </a:solidFill>
                <a:latin typeface="Calibri"/>
              </a:rPr>
              <a:t>A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 narrow, operable slice of the bigger “workflow automation for RIAs / TAMPs / private banks”.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Flow: </a:t>
            </a:r>
            <a:r>
              <a:rPr lang="en-CA" sz="1300" dirty="0">
                <a:solidFill>
                  <a:srgbClr val="3D475C"/>
                </a:solidFill>
                <a:latin typeface="Calibri"/>
              </a:rPr>
              <a:t>A</a:t>
            </a:r>
            <a:r>
              <a:rPr sz="1300" b="0" dirty="0" err="1">
                <a:solidFill>
                  <a:srgbClr val="3D475C"/>
                </a:solidFill>
                <a:latin typeface="Calibri"/>
              </a:rPr>
              <a:t>dvisor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 pastes a screener URL → </a:t>
            </a:r>
            <a:r>
              <a:rPr sz="1300" b="0" dirty="0" err="1">
                <a:solidFill>
                  <a:srgbClr val="3D475C"/>
                </a:solidFill>
                <a:latin typeface="Calibri"/>
              </a:rPr>
              <a:t>DocGen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 agent renders it to PDF via Adobe PDF Services → self-reviews the result → retries if it looks wrong → Controller agent keeps a live dashboard of every request</a:t>
            </a:r>
            <a:r>
              <a:rPr lang="en-CA" sz="1300" b="0" dirty="0">
                <a:solidFill>
                  <a:srgbClr val="3D475C"/>
                </a:solidFill>
                <a:latin typeface="Calibri"/>
              </a:rPr>
              <a:t> and response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Not: </a:t>
            </a:r>
            <a:r>
              <a:rPr lang="en-CA" sz="1300" dirty="0">
                <a:solidFill>
                  <a:srgbClr val="3D475C"/>
                </a:solidFill>
                <a:latin typeface="Calibri"/>
              </a:rPr>
              <a:t>A</a:t>
            </a:r>
            <a:r>
              <a:rPr sz="1300" b="0" dirty="0">
                <a:solidFill>
                  <a:srgbClr val="3D475C"/>
                </a:solidFill>
                <a:latin typeface="Calibri"/>
              </a:rPr>
              <a:t> chatbot that talks about funds — a small pipeline with a system of record, retries, and self-checking that ops could actually depend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417320"/>
            <a:ext cx="5788152" cy="4937760"/>
          </a:xfrm>
          <a:prstGeom prst="roundRect">
            <a:avLst>
              <a:gd name="adj" fmla="val 4500"/>
            </a:avLst>
          </a:prstGeom>
          <a:solidFill>
            <a:srgbClr val="F4F1EC"/>
          </a:solidFill>
          <a:ln w="9525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645920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993392"/>
            <a:ext cx="457200" cy="27940"/>
          </a:xfrm>
          <a:prstGeom prst="rect">
            <a:avLst/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239512" cy="566928"/>
          </a:xfrm>
          <a:prstGeom prst="roundRect">
            <a:avLst>
              <a:gd name="adj" fmla="val 18000"/>
            </a:avLst>
          </a:prstGeom>
          <a:solidFill>
            <a:srgbClr val="3D4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Advisor (browser) → POST screen request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691372" y="2852928"/>
            <a:ext cx="201168" cy="16459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3072384"/>
            <a:ext cx="2482596" cy="566928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DocGen Agent</a:t>
            </a:r>
            <a:br/>
            <a:r>
              <a:t>plan → act → observe → reflect → retry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9116" y="3072384"/>
            <a:ext cx="2482596" cy="566928"/>
          </a:xfrm>
          <a:prstGeom prst="roundRect">
            <a:avLst>
              <a:gd name="adj" fmla="val 1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Controller Agent</a:t>
            </a:r>
            <a:br/>
            <a:r>
              <a:t>DB → dashboard view-model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312914" y="3685032"/>
            <a:ext cx="201168" cy="16459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10069830" y="3685032"/>
            <a:ext cx="201168" cy="16459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904488"/>
            <a:ext cx="1624584" cy="566928"/>
          </a:xfrm>
          <a:prstGeom prst="roundRect">
            <a:avLst>
              <a:gd name="adj" fmla="val 18000"/>
            </a:avLst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Adobe PDF</a:t>
            </a:r>
            <a:br/>
            <a:r>
              <a:t>Services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9664" y="3904488"/>
            <a:ext cx="1624584" cy="566928"/>
          </a:xfrm>
          <a:prstGeom prst="roundRect">
            <a:avLst>
              <a:gd name="adj" fmla="val 18000"/>
            </a:avLst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Reflection</a:t>
            </a:r>
            <a:br/>
            <a:r>
              <a:t>(rule/LLM)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7128" y="3904488"/>
            <a:ext cx="1624584" cy="566928"/>
          </a:xfrm>
          <a:prstGeom prst="roundRect">
            <a:avLst>
              <a:gd name="adj" fmla="val 18000"/>
            </a:avLst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Postgres /</a:t>
            </a:r>
            <a:br/>
            <a:r>
              <a:t>SQLite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691372" y="4517136"/>
            <a:ext cx="201168" cy="164592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72200" y="4736592"/>
            <a:ext cx="5239512" cy="566928"/>
          </a:xfrm>
          <a:prstGeom prst="roundRect">
            <a:avLst>
              <a:gd name="adj" fmla="val 18000"/>
            </a:avLst>
          </a:prstGeom>
          <a:solidFill>
            <a:srgbClr val="3D4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State: pending → in_progress → {succeeded | needs_review | failed}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504688"/>
            <a:ext cx="5239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i="1">
                <a:solidFill>
                  <a:srgbClr val="6B7280"/>
                </a:solidFill>
                <a:latin typeface="Calibri"/>
              </a:defRPr>
            </a:pPr>
            <a:r>
              <a:t>Agentic only where judgment is needed: DocGen reasons over unpredictable web content; Controller is deterministic (reads rows, no model call — zero added latency/cost/failure mode for zero benefit).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39645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r>
              <a:rPr dirty="0"/>
              <a:t>Not affiliated with Novus</a:t>
            </a:r>
            <a:r>
              <a:rPr lang="en-CA" dirty="0"/>
              <a:t> </a:t>
            </a:r>
            <a:r>
              <a:rPr dirty="0"/>
              <a:t>Minds — built independently </a:t>
            </a:r>
            <a:r>
              <a:rPr lang="en-CA" dirty="0"/>
              <a:t>by Tej Mujje as a demo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463040" cy="54864"/>
          </a:xfrm>
          <a:prstGeom prst="rect">
            <a:avLst/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6A2E"/>
                </a:solidFill>
                <a:latin typeface="Calibri"/>
              </a:defRPr>
            </a:pPr>
            <a:r>
              <a:rPr dirty="0"/>
              <a:t>NOVUS</a:t>
            </a:r>
            <a:r>
              <a:rPr lang="en-CA" dirty="0"/>
              <a:t> </a:t>
            </a:r>
            <a:r>
              <a:rPr dirty="0"/>
              <a:t>MINDS AI  — FDE PROTOTYPE</a:t>
            </a:r>
          </a:p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Design Decisions &amp; Technical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623560" cy="4937760"/>
          </a:xfrm>
          <a:prstGeom prst="roundRect">
            <a:avLst>
              <a:gd name="adj" fmla="val 4500"/>
            </a:avLst>
          </a:prstGeom>
          <a:solidFill>
            <a:srgbClr val="F4F1EC"/>
          </a:solidFill>
          <a:ln w="9525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74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Calibri"/>
              </a:defRPr>
            </a:pPr>
            <a:r>
              <a:rPr lang="en-CA" dirty="0"/>
              <a:t>Key Design </a:t>
            </a:r>
            <a:r>
              <a:rPr dirty="0"/>
              <a:t>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93392"/>
            <a:ext cx="457200" cy="27940"/>
          </a:xfrm>
          <a:prstGeom prst="rect">
            <a:avLst/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74920" cy="4128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CA" sz="1150" b="1" dirty="0">
                <a:solidFill>
                  <a:srgbClr val="C86A2E"/>
                </a:solidFill>
              </a:rPr>
              <a:t>▸  </a:t>
            </a:r>
            <a:r>
              <a:rPr lang="en-CA" sz="1150" b="1" dirty="0">
                <a:solidFill>
                  <a:srgbClr val="1B2A4A"/>
                </a:solidFill>
              </a:rPr>
              <a:t>Architecture Pattern: </a:t>
            </a:r>
            <a:r>
              <a:rPr lang="en-US" sz="1150" dirty="0">
                <a:solidFill>
                  <a:srgbClr val="3D475C"/>
                </a:solidFill>
              </a:rPr>
              <a:t>Two-agent split by predictability — an agentic (plan→act→observe→reflect→retry) agent handles the unpredictable part of the flow using deterministic, rule-based judgment by default (with an optional LLM critique layer that can only downgrade a verdict, never replace the rule-based check); a second, non-agentic agent deterministically serves read-only view-models to the dashboard</a:t>
            </a:r>
            <a:r>
              <a:rPr lang="en-CA" sz="1150" dirty="0">
                <a:solidFill>
                  <a:srgbClr val="3D475C"/>
                </a:solidFill>
              </a:rPr>
              <a:t>.</a:t>
            </a:r>
            <a:endParaRPr lang="en-CA" sz="1150" b="1" dirty="0">
              <a:solidFill>
                <a:srgbClr val="1B2A4A"/>
              </a:solidFill>
            </a:endParaRP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1B2A4A"/>
                </a:solidFill>
                <a:latin typeface="Calibri"/>
              </a:rPr>
              <a:t>Content-aware reflection: </a:t>
            </a:r>
            <a:r>
              <a:rPr sz="1150" b="0" dirty="0">
                <a:solidFill>
                  <a:srgbClr val="3D475C"/>
                </a:solidFill>
                <a:latin typeface="Calibri"/>
              </a:rPr>
              <a:t>flags thin/blank PDFs by extracted character count (</a:t>
            </a:r>
            <a:r>
              <a:rPr sz="1150" b="0" dirty="0" err="1">
                <a:solidFill>
                  <a:srgbClr val="3D475C"/>
                </a:solidFill>
                <a:latin typeface="Calibri"/>
              </a:rPr>
              <a:t>pypdf</a:t>
            </a:r>
            <a:r>
              <a:rPr sz="1150" b="0" dirty="0">
                <a:solidFill>
                  <a:srgbClr val="3D475C"/>
                </a:solidFill>
                <a:latin typeface="Calibri"/>
              </a:rPr>
              <a:t>), not byte size — byte size is dominated by font/structure overhead, not real content.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1B2A4A"/>
                </a:solidFill>
                <a:latin typeface="Calibri"/>
              </a:rPr>
              <a:t>Our own copy is the system of record: </a:t>
            </a:r>
            <a:r>
              <a:rPr sz="1150" b="0" dirty="0">
                <a:solidFill>
                  <a:srgbClr val="3D475C"/>
                </a:solidFill>
                <a:latin typeface="Calibri"/>
              </a:rPr>
              <a:t>Adobe publishes no retention SLA for generated assets, so every retrieval reads the file the app persisted itself.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1B2A4A"/>
                </a:solidFill>
                <a:latin typeface="Calibri"/>
              </a:rPr>
              <a:t>Zero-credential default path: </a:t>
            </a:r>
            <a:r>
              <a:rPr sz="1150" b="0" dirty="0">
                <a:solidFill>
                  <a:srgbClr val="3D475C"/>
                </a:solidFill>
                <a:latin typeface="Calibri"/>
              </a:rPr>
              <a:t>mock PDF provider + rule-based reflection need no network or keys — the demo can never go down to flaky </a:t>
            </a:r>
            <a:r>
              <a:rPr sz="1150" b="0" dirty="0" err="1">
                <a:solidFill>
                  <a:srgbClr val="3D475C"/>
                </a:solidFill>
                <a:latin typeface="Calibri"/>
              </a:rPr>
              <a:t>wifi</a:t>
            </a:r>
            <a:r>
              <a:rPr sz="1150" b="0" dirty="0">
                <a:solidFill>
                  <a:srgbClr val="3D475C"/>
                </a:solidFill>
                <a:latin typeface="Calibri"/>
              </a:rPr>
              <a:t> or an expired trial key.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1B2A4A"/>
                </a:solidFill>
                <a:latin typeface="Calibri"/>
              </a:rPr>
              <a:t>LLM reflection can only downgrade, never upgrade: </a:t>
            </a:r>
            <a:r>
              <a:rPr sz="1150" b="0" dirty="0">
                <a:solidFill>
                  <a:srgbClr val="3D475C"/>
                </a:solidFill>
                <a:latin typeface="Calibri"/>
              </a:rPr>
              <a:t>the deterministic check runs first; the model can flip PASS → NEEDS_REVIEW, never manufacture a PASS.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 dirty="0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 dirty="0">
                <a:solidFill>
                  <a:srgbClr val="1B2A4A"/>
                </a:solidFill>
                <a:latin typeface="Calibri"/>
              </a:rPr>
              <a:t>Honest scope cuts, named not hidden: </a:t>
            </a:r>
            <a:r>
              <a:rPr sz="1150" b="0" dirty="0">
                <a:solidFill>
                  <a:srgbClr val="3D475C"/>
                </a:solidFill>
                <a:latin typeface="Calibri"/>
              </a:rPr>
              <a:t>SSRF-lite validation (no DNS re-resolution), synchronous request handling, single-tenant — each has a sequenced fix in the scaling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76672" cy="4937760"/>
          </a:xfrm>
          <a:prstGeom prst="roundRect">
            <a:avLst>
              <a:gd name="adj" fmla="val 4500"/>
            </a:avLst>
          </a:prstGeom>
          <a:solidFill>
            <a:srgbClr val="F4F1EC"/>
          </a:solidFill>
          <a:ln w="9525">
            <a:solidFill>
              <a:srgbClr val="E3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  <a:latin typeface="Calibri"/>
              </a:defRPr>
            </a:pPr>
            <a:r>
              <a:t>Technical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993392"/>
            <a:ext cx="457200" cy="27940"/>
          </a:xfrm>
          <a:prstGeom prst="rect">
            <a:avLst/>
          </a:prstGeom>
          <a:solidFill>
            <a:srgbClr val="C86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82803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>
                <a:solidFill>
                  <a:srgbClr val="1B2A4A"/>
                </a:solidFill>
                <a:latin typeface="Calibri"/>
              </a:rPr>
              <a:t>Backend: </a:t>
            </a:r>
            <a:r>
              <a:rPr sz="1150" b="0">
                <a:solidFill>
                  <a:srgbClr val="3D475C"/>
                </a:solidFill>
                <a:latin typeface="Calibri"/>
              </a:rPr>
              <a:t>Python, FastAPI, SQLAlchemy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>
                <a:solidFill>
                  <a:srgbClr val="1B2A4A"/>
                </a:solidFill>
                <a:latin typeface="Calibri"/>
              </a:rPr>
              <a:t>Database: </a:t>
            </a:r>
            <a:r>
              <a:rPr sz="1150" b="0">
                <a:solidFill>
                  <a:srgbClr val="3D475C"/>
                </a:solidFill>
                <a:latin typeface="Calibri"/>
              </a:rPr>
              <a:t>PostgreSQL (docker-compose, prod-shaped path) with a SQLite fallback for zero-setup demos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>
                <a:solidFill>
                  <a:srgbClr val="1B2A4A"/>
                </a:solidFill>
                <a:latin typeface="Calibri"/>
              </a:rPr>
              <a:t>PDF generation: </a:t>
            </a:r>
            <a:r>
              <a:rPr sz="1150" b="0">
                <a:solidFill>
                  <a:srgbClr val="3D475C"/>
                </a:solidFill>
                <a:latin typeface="Calibri"/>
              </a:rPr>
              <a:t>Adobe PDF Services API — HTML-to-PDF-from-URL, OAuth Server-to-Server (free tier: 500 docs/mo)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>
                <a:solidFill>
                  <a:srgbClr val="1B2A4A"/>
                </a:solidFill>
                <a:latin typeface="Calibri"/>
              </a:rPr>
              <a:t>Reflection: </a:t>
            </a:r>
            <a:r>
              <a:rPr sz="1150" b="0">
                <a:solidFill>
                  <a:srgbClr val="3D475C"/>
                </a:solidFill>
                <a:latin typeface="Calibri"/>
              </a:rPr>
              <a:t>rule-based (pypdf text extraction) by default, optional Anthropic Claude critique pass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>
                <a:solidFill>
                  <a:srgbClr val="1B2A4A"/>
                </a:solidFill>
                <a:latin typeface="Calibri"/>
              </a:rPr>
              <a:t>Frontend: </a:t>
            </a:r>
            <a:r>
              <a:rPr sz="1150" b="0">
                <a:solidFill>
                  <a:srgbClr val="3D475C"/>
                </a:solidFill>
                <a:latin typeface="Calibri"/>
              </a:rPr>
              <a:t>vanilla JS dashboard, no build step, served directly by FastAPI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50" b="1">
                <a:solidFill>
                  <a:srgbClr val="C86A2E"/>
                </a:solidFill>
                <a:latin typeface="Calibri"/>
              </a:rPr>
              <a:t>▸  </a:t>
            </a:r>
            <a:r>
              <a:rPr sz="1150" b="1">
                <a:solidFill>
                  <a:srgbClr val="1B2A4A"/>
                </a:solidFill>
                <a:latin typeface="Calibri"/>
              </a:rPr>
              <a:t>Testing: </a:t>
            </a:r>
            <a:r>
              <a:rPr sz="1150" b="0">
                <a:solidFill>
                  <a:srgbClr val="3D475C"/>
                </a:solidFill>
                <a:latin typeface="Calibri"/>
              </a:rPr>
              <a:t>pytest — 32 tests across unit / API / a 5-scenario eval harness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212080"/>
            <a:ext cx="4828032" cy="914400"/>
          </a:xfrm>
          <a:prstGeom prst="roundRect">
            <a:avLst>
              <a:gd name="adj" fmla="val 4500"/>
            </a:avLst>
          </a:prstGeom>
          <a:solidFill>
            <a:srgbClr val="EAF3EA"/>
          </a:solidFill>
          <a:ln w="9525">
            <a:solidFill>
              <a:srgbClr val="8FC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5321808"/>
            <a:ext cx="4462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E6B2E"/>
                </a:solidFill>
                <a:latin typeface="Calibri"/>
              </a:rPr>
              <a:t>Verified live: </a:t>
            </a:r>
            <a:r>
              <a:rPr sz="1150">
                <a:solidFill>
                  <a:srgbClr val="2E552E"/>
                </a:solidFill>
                <a:latin typeface="Calibri"/>
              </a:rPr>
              <a:t>full pipeline run end-to-end against real Adobe PDF Services credentials — request → live PDF → reflection → stored → downloaded.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r>
              <a:t>Code: github.com/tpkm-gh/novus-vibe  •  Full writeup: docs/PLAYBOOK.md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644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 Mujje</cp:lastModifiedBy>
  <cp:revision>2</cp:revision>
  <dcterms:created xsi:type="dcterms:W3CDTF">2013-01-27T09:14:16Z</dcterms:created>
  <dcterms:modified xsi:type="dcterms:W3CDTF">2026-09-10T16:03:14Z</dcterms:modified>
  <cp:category/>
</cp:coreProperties>
</file>